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Plus Jakarta Sans ExtraBold"/>
      <p:bold r:id="rId22"/>
      <p:boldItalic r:id="rId23"/>
    </p:embeddedFont>
    <p:embeddedFont>
      <p:font typeface="Plus Jakarta Sans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lusJakartaSansExtraBold-bold.fntdata"/><Relationship Id="rId21" Type="http://schemas.openxmlformats.org/officeDocument/2006/relationships/slide" Target="slides/slide14.xml"/><Relationship Id="rId24" Type="http://schemas.openxmlformats.org/officeDocument/2006/relationships/font" Target="fonts/PlusJakartaSansMedium-regular.fntdata"/><Relationship Id="rId23" Type="http://schemas.openxmlformats.org/officeDocument/2006/relationships/font" Target="fonts/PlusJakartaSans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PlusJakartaSansMedium-italic.fntdata"/><Relationship Id="rId25" Type="http://schemas.openxmlformats.org/officeDocument/2006/relationships/font" Target="fonts/PlusJakartaSansMedium-bold.fntdata"/><Relationship Id="rId27" Type="http://schemas.openxmlformats.org/officeDocument/2006/relationships/font" Target="fonts/PlusJakartaSansMedium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9e3d1ec2c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9e3d1ec2c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9f1439381_1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9f1439381_11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9f1439381_1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9f1439381_11_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9f1439381_1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f9f1439381_11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9f1439381_1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f9f1439381_11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f9f1439381_1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9f1439381_11_1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9f1439381_1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f9f1439381_11_1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9f1439381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f9f1439381_2_14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9f1439381_1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9f1439381_11_15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9f1e8b901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f9f1e8b901_1_1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f9e3d1ec2c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9e3d1ec2c_13_0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9f1439381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f9f1439381_2_22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9e3d1ec2c_24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f9e3d1ec2c_24_23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9f1439381_2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9f1439381_2_24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0" name="Google Shape;150;p2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6" name="Google Shape;156;p30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7" name="Google Shape;157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3" name="Google Shape;163;p31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4" name="Google Shape;164;p31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5" name="Google Shape;165;p31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6" name="Google Shape;166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77" name="Google Shape;177;p33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8" name="Google Shape;178;p3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5" name="Google Shape;185;p3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3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7"/>
          <p:cNvSpPr txBox="1"/>
          <p:nvPr/>
        </p:nvSpPr>
        <p:spPr>
          <a:xfrm>
            <a:off x="1114067" y="1938858"/>
            <a:ext cx="69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2700" u="none" cap="none" strike="noStrike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Concevez et Déployez un Système RAG</a:t>
            </a:r>
            <a:endParaRPr sz="1100"/>
          </a:p>
        </p:txBody>
      </p:sp>
      <p:sp>
        <p:nvSpPr>
          <p:cNvPr id="206" name="Google Shape;206;p37"/>
          <p:cNvSpPr txBox="1"/>
          <p:nvPr/>
        </p:nvSpPr>
        <p:spPr>
          <a:xfrm>
            <a:off x="1714500" y="2447404"/>
            <a:ext cx="57150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" sz="1100" u="none" cap="none" strike="noStrike">
                <a:solidFill>
                  <a:srgbClr val="818CF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Chatbot intelligent de recommandation d'événements culturels en Seine-Saint-Denis (93)</a:t>
            </a:r>
            <a:endParaRPr sz="1100"/>
          </a:p>
        </p:txBody>
      </p:sp>
      <p:sp>
        <p:nvSpPr>
          <p:cNvPr id="207" name="Google Shape;207;p37"/>
          <p:cNvSpPr txBox="1"/>
          <p:nvPr/>
        </p:nvSpPr>
        <p:spPr>
          <a:xfrm>
            <a:off x="992605" y="1336408"/>
            <a:ext cx="691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700">
                <a:solidFill>
                  <a:srgbClr val="F8FAFC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Projet 11 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8"/>
          <p:cNvSpPr txBox="1"/>
          <p:nvPr/>
        </p:nvSpPr>
        <p:spPr>
          <a:xfrm>
            <a:off x="445782" y="216027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100"/>
              <a:buFont typeface="Calibri"/>
              <a:buNone/>
            </a:pP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Le besoin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8"/>
          <p:cNvSpPr txBox="1"/>
          <p:nvPr/>
        </p:nvSpPr>
        <p:spPr>
          <a:xfrm>
            <a:off x="459498" y="524637"/>
            <a:ext cx="7955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380"/>
              </a:buClr>
              <a:buSzPts val="1000"/>
              <a:buFont typeface="Calibri"/>
              <a:buNone/>
            </a:pPr>
            <a:r>
              <a:rPr i="0" lang="f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Pourquoi utiliser un RAG pour rechercher des événements ?</a:t>
            </a:r>
            <a:endParaRPr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8"/>
          <p:cNvSpPr/>
          <p:nvPr/>
        </p:nvSpPr>
        <p:spPr>
          <a:xfrm>
            <a:off x="548655" y="874395"/>
            <a:ext cx="2537528" cy="180022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8"/>
          <p:cNvSpPr/>
          <p:nvPr/>
        </p:nvSpPr>
        <p:spPr>
          <a:xfrm>
            <a:off x="548655" y="874395"/>
            <a:ext cx="54865" cy="1800225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8"/>
          <p:cNvSpPr txBox="1"/>
          <p:nvPr/>
        </p:nvSpPr>
        <p:spPr>
          <a:xfrm>
            <a:off x="699535" y="966978"/>
            <a:ext cx="2263200" cy="2314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La demande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8"/>
          <p:cNvSpPr txBox="1"/>
          <p:nvPr/>
        </p:nvSpPr>
        <p:spPr>
          <a:xfrm>
            <a:off x="699535" y="1244727"/>
            <a:ext cx="22632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L'utilisateur doit pouvoir poser naturellement une question comme 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 Quels événements musicaux ont lieu à Aubervilliers ? »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8"/>
          <p:cNvSpPr/>
          <p:nvPr/>
        </p:nvSpPr>
        <p:spPr>
          <a:xfrm>
            <a:off x="3291928" y="874395"/>
            <a:ext cx="2537528" cy="180022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8"/>
          <p:cNvSpPr/>
          <p:nvPr/>
        </p:nvSpPr>
        <p:spPr>
          <a:xfrm>
            <a:off x="3291928" y="874395"/>
            <a:ext cx="54865" cy="1800225"/>
          </a:xfrm>
          <a:prstGeom prst="rect">
            <a:avLst/>
          </a:prstGeom>
          <a:solidFill>
            <a:srgbClr val="D384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8"/>
          <p:cNvSpPr txBox="1"/>
          <p:nvPr/>
        </p:nvSpPr>
        <p:spPr>
          <a:xfrm>
            <a:off x="3442808" y="966978"/>
            <a:ext cx="2263200" cy="2314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La difficulté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8"/>
          <p:cNvSpPr txBox="1"/>
          <p:nvPr/>
        </p:nvSpPr>
        <p:spPr>
          <a:xfrm>
            <a:off x="3442808" y="1244727"/>
            <a:ext cx="22632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Elle vient du volume et de la diversité des fiches. Chaque événement peut contenir un titre, une date, une ville, un lieu, une catégorie, une description, des conditions d'accès, etc.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8"/>
          <p:cNvSpPr/>
          <p:nvPr/>
        </p:nvSpPr>
        <p:spPr>
          <a:xfrm>
            <a:off x="6035201" y="874395"/>
            <a:ext cx="2537528" cy="180022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8"/>
          <p:cNvSpPr/>
          <p:nvPr/>
        </p:nvSpPr>
        <p:spPr>
          <a:xfrm>
            <a:off x="6035201" y="874395"/>
            <a:ext cx="54865" cy="1800225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8"/>
          <p:cNvSpPr txBox="1"/>
          <p:nvPr/>
        </p:nvSpPr>
        <p:spPr>
          <a:xfrm>
            <a:off x="6186081" y="966978"/>
            <a:ext cx="2263200" cy="23145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Le risque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8"/>
          <p:cNvSpPr txBox="1"/>
          <p:nvPr/>
        </p:nvSpPr>
        <p:spPr>
          <a:xfrm>
            <a:off x="6186081" y="1244727"/>
            <a:ext cx="22632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Un LLM utilisé seul peut produire des informations qui ne sont pas présentes dans les événements.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9"/>
          <p:cNvSpPr txBox="1"/>
          <p:nvPr/>
        </p:nvSpPr>
        <p:spPr>
          <a:xfrm>
            <a:off x="445782" y="216027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100"/>
              <a:buFont typeface="Calibri"/>
              <a:buNone/>
            </a:pP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Ma solution : le RAG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9"/>
          <p:cNvSpPr txBox="1"/>
          <p:nvPr/>
        </p:nvSpPr>
        <p:spPr>
          <a:xfrm>
            <a:off x="459498" y="524637"/>
            <a:ext cx="7955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380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9"/>
          <p:cNvSpPr/>
          <p:nvPr/>
        </p:nvSpPr>
        <p:spPr>
          <a:xfrm>
            <a:off x="480073" y="1028700"/>
            <a:ext cx="1680255" cy="115728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9"/>
          <p:cNvSpPr txBox="1"/>
          <p:nvPr/>
        </p:nvSpPr>
        <p:spPr>
          <a:xfrm>
            <a:off x="603519" y="1311593"/>
            <a:ext cx="144021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0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Langage naturel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39"/>
          <p:cNvCxnSpPr/>
          <p:nvPr/>
        </p:nvCxnSpPr>
        <p:spPr>
          <a:xfrm>
            <a:off x="2194619" y="1594485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7" name="Google Shape;237;p39"/>
          <p:cNvSpPr/>
          <p:nvPr/>
        </p:nvSpPr>
        <p:spPr>
          <a:xfrm>
            <a:off x="2640400" y="1028700"/>
            <a:ext cx="1680255" cy="115728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2763848" y="1311593"/>
            <a:ext cx="144021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Recherche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0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FAISS • TOP_K =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39"/>
          <p:cNvCxnSpPr/>
          <p:nvPr/>
        </p:nvCxnSpPr>
        <p:spPr>
          <a:xfrm>
            <a:off x="4354946" y="1594485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0" name="Google Shape;240;p39"/>
          <p:cNvSpPr/>
          <p:nvPr/>
        </p:nvSpPr>
        <p:spPr>
          <a:xfrm>
            <a:off x="4800728" y="1028700"/>
            <a:ext cx="1680255" cy="115728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9"/>
          <p:cNvSpPr txBox="1"/>
          <p:nvPr/>
        </p:nvSpPr>
        <p:spPr>
          <a:xfrm>
            <a:off x="4924175" y="1311593"/>
            <a:ext cx="144021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0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Chunks pertinents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39"/>
          <p:cNvCxnSpPr/>
          <p:nvPr/>
        </p:nvCxnSpPr>
        <p:spPr>
          <a:xfrm>
            <a:off x="6515274" y="1594485"/>
            <a:ext cx="342909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3" name="Google Shape;243;p39"/>
          <p:cNvSpPr/>
          <p:nvPr/>
        </p:nvSpPr>
        <p:spPr>
          <a:xfrm>
            <a:off x="6961056" y="1028700"/>
            <a:ext cx="1680255" cy="1157288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9"/>
          <p:cNvSpPr txBox="1"/>
          <p:nvPr/>
        </p:nvSpPr>
        <p:spPr>
          <a:xfrm>
            <a:off x="7084503" y="1311593"/>
            <a:ext cx="1440218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Réponse</a:t>
            </a:r>
            <a:br>
              <a:rPr b="1" i="0" lang="fr" sz="14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0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Mistral Small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9"/>
          <p:cNvSpPr txBox="1"/>
          <p:nvPr/>
        </p:nvSpPr>
        <p:spPr>
          <a:xfrm>
            <a:off x="480075" y="2441125"/>
            <a:ext cx="8044800" cy="15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Premièrement, l'utilisateur pose sa question en langage naturel.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Deuxièmement, cette question est utilisée pour rechercher les informations les plus proches sémantiquement dans FAISS. J'ai choisi de récupérer les </a:t>
            </a:r>
            <a:r>
              <a:rPr b="1" lang="fr" sz="1100">
                <a:solidFill>
                  <a:schemeClr val="lt1"/>
                </a:solidFill>
              </a:rPr>
              <a:t>5 chunks les plus proches</a:t>
            </a:r>
            <a:r>
              <a:rPr lang="fr" sz="1100">
                <a:solidFill>
                  <a:schemeClr val="lt1"/>
                </a:solidFill>
              </a:rPr>
              <a:t>, avec TOP_K égal à 5.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Troisièmement, ces chunks constituent le contexte fourni au modèle.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chemeClr val="lt1"/>
                </a:solidFill>
              </a:rPr>
              <a:t>Enfin, Mistral Small génère la réponse à partir de ce contexte.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40"/>
          <p:cNvSpPr txBox="1"/>
          <p:nvPr/>
        </p:nvSpPr>
        <p:spPr>
          <a:xfrm>
            <a:off x="445782" y="216027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2100"/>
              <a:buFont typeface="Calibri"/>
              <a:buNone/>
            </a:pP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Le parcours d'une question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40"/>
          <p:cNvSpPr txBox="1"/>
          <p:nvPr/>
        </p:nvSpPr>
        <p:spPr>
          <a:xfrm>
            <a:off x="459498" y="524637"/>
            <a:ext cx="7955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97380"/>
              </a:buClr>
              <a:buSzPts val="1000"/>
              <a:buFont typeface="Calibri"/>
              <a:buNone/>
            </a:pPr>
            <a:r>
              <a:rPr b="0" i="0" lang="fr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 dataset à la réponse utilisateur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0"/>
          <p:cNvSpPr/>
          <p:nvPr/>
        </p:nvSpPr>
        <p:spPr>
          <a:xfrm>
            <a:off x="308625" y="1054431"/>
            <a:ext cx="1337400" cy="19233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0"/>
          <p:cNvSpPr/>
          <p:nvPr/>
        </p:nvSpPr>
        <p:spPr>
          <a:xfrm>
            <a:off x="308618" y="1054417"/>
            <a:ext cx="54865" cy="113157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0"/>
          <p:cNvSpPr txBox="1"/>
          <p:nvPr/>
        </p:nvSpPr>
        <p:spPr>
          <a:xfrm>
            <a:off x="459498" y="1147001"/>
            <a:ext cx="1063018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OpenAgenda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0"/>
          <p:cNvSpPr txBox="1"/>
          <p:nvPr/>
        </p:nvSpPr>
        <p:spPr>
          <a:xfrm>
            <a:off x="459500" y="1424751"/>
            <a:ext cx="1062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Récupération  de </a:t>
            </a:r>
            <a:r>
              <a:rPr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3 880</a:t>
            </a: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événements du 93.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40"/>
          <p:cNvCxnSpPr/>
          <p:nvPr/>
        </p:nvCxnSpPr>
        <p:spPr>
          <a:xfrm>
            <a:off x="1645964" y="1620203"/>
            <a:ext cx="123447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8" name="Google Shape;258;p40"/>
          <p:cNvSpPr/>
          <p:nvPr/>
        </p:nvSpPr>
        <p:spPr>
          <a:xfrm>
            <a:off x="1783125" y="1054431"/>
            <a:ext cx="1337400" cy="19233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40"/>
          <p:cNvSpPr/>
          <p:nvPr/>
        </p:nvSpPr>
        <p:spPr>
          <a:xfrm>
            <a:off x="1783128" y="1054417"/>
            <a:ext cx="54865" cy="113157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40"/>
          <p:cNvSpPr txBox="1"/>
          <p:nvPr/>
        </p:nvSpPr>
        <p:spPr>
          <a:xfrm>
            <a:off x="1934008" y="1147001"/>
            <a:ext cx="1063018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Préparation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40"/>
          <p:cNvSpPr txBox="1"/>
          <p:nvPr/>
        </p:nvSpPr>
        <p:spPr>
          <a:xfrm>
            <a:off x="1947796" y="1416199"/>
            <a:ext cx="10629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Nettoyage + structure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40"/>
          <p:cNvCxnSpPr/>
          <p:nvPr/>
        </p:nvCxnSpPr>
        <p:spPr>
          <a:xfrm>
            <a:off x="3120473" y="1620203"/>
            <a:ext cx="123447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3" name="Google Shape;263;p40"/>
          <p:cNvSpPr/>
          <p:nvPr/>
        </p:nvSpPr>
        <p:spPr>
          <a:xfrm>
            <a:off x="3257625" y="1054450"/>
            <a:ext cx="1337400" cy="19233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0"/>
          <p:cNvSpPr/>
          <p:nvPr/>
        </p:nvSpPr>
        <p:spPr>
          <a:xfrm>
            <a:off x="3257637" y="1054417"/>
            <a:ext cx="54865" cy="113157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40"/>
          <p:cNvSpPr txBox="1"/>
          <p:nvPr/>
        </p:nvSpPr>
        <p:spPr>
          <a:xfrm>
            <a:off x="3408517" y="1147001"/>
            <a:ext cx="1063018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Vectorisation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3312500" y="1424750"/>
            <a:ext cx="12594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Découpage en chunks, puis transformation en vecteur grâce au modèle </a:t>
            </a: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40"/>
          <p:cNvCxnSpPr/>
          <p:nvPr/>
        </p:nvCxnSpPr>
        <p:spPr>
          <a:xfrm>
            <a:off x="4594982" y="1620203"/>
            <a:ext cx="123447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40"/>
          <p:cNvSpPr/>
          <p:nvPr/>
        </p:nvSpPr>
        <p:spPr>
          <a:xfrm>
            <a:off x="4732150" y="1054424"/>
            <a:ext cx="1337400" cy="19233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0"/>
          <p:cNvSpPr/>
          <p:nvPr/>
        </p:nvSpPr>
        <p:spPr>
          <a:xfrm>
            <a:off x="4732146" y="1054417"/>
            <a:ext cx="54865" cy="113157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4883026" y="1147001"/>
            <a:ext cx="1063018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Index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0"/>
          <p:cNvSpPr txBox="1"/>
          <p:nvPr/>
        </p:nvSpPr>
        <p:spPr>
          <a:xfrm>
            <a:off x="4883026" y="1424749"/>
            <a:ext cx="1062900" cy="15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Stockage des vecteurs dans un index FAISS.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Recherche les chunks les plus proches en fonction de la question  posée.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40"/>
          <p:cNvCxnSpPr/>
          <p:nvPr/>
        </p:nvCxnSpPr>
        <p:spPr>
          <a:xfrm>
            <a:off x="6069492" y="1620203"/>
            <a:ext cx="123447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3" name="Google Shape;273;p40"/>
          <p:cNvSpPr/>
          <p:nvPr/>
        </p:nvSpPr>
        <p:spPr>
          <a:xfrm>
            <a:off x="6206650" y="1054431"/>
            <a:ext cx="1337400" cy="19233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0"/>
          <p:cNvSpPr/>
          <p:nvPr/>
        </p:nvSpPr>
        <p:spPr>
          <a:xfrm>
            <a:off x="6206655" y="1054417"/>
            <a:ext cx="54865" cy="1131570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0"/>
          <p:cNvSpPr txBox="1"/>
          <p:nvPr/>
        </p:nvSpPr>
        <p:spPr>
          <a:xfrm>
            <a:off x="6357535" y="1147001"/>
            <a:ext cx="1063018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Génération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0"/>
          <p:cNvSpPr txBox="1"/>
          <p:nvPr/>
        </p:nvSpPr>
        <p:spPr>
          <a:xfrm>
            <a:off x="6357535" y="1424749"/>
            <a:ext cx="10629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contexte récupéré est ensuite transmis à Mistral Small, qui produit la réponse.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" name="Google Shape;277;p40"/>
          <p:cNvCxnSpPr/>
          <p:nvPr/>
        </p:nvCxnSpPr>
        <p:spPr>
          <a:xfrm>
            <a:off x="7544001" y="1620203"/>
            <a:ext cx="123447" cy="0"/>
          </a:xfrm>
          <a:prstGeom prst="straightConnector1">
            <a:avLst/>
          </a:prstGeom>
          <a:noFill/>
          <a:ln cap="flat" cmpd="sng" w="25400">
            <a:solidFill>
              <a:srgbClr val="6973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8" name="Google Shape;278;p40"/>
          <p:cNvSpPr/>
          <p:nvPr/>
        </p:nvSpPr>
        <p:spPr>
          <a:xfrm>
            <a:off x="7681175" y="1054431"/>
            <a:ext cx="1337400" cy="19233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0"/>
          <p:cNvSpPr/>
          <p:nvPr/>
        </p:nvSpPr>
        <p:spPr>
          <a:xfrm>
            <a:off x="7681165" y="1054417"/>
            <a:ext cx="54865" cy="1131570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0"/>
          <p:cNvSpPr txBox="1"/>
          <p:nvPr/>
        </p:nvSpPr>
        <p:spPr>
          <a:xfrm>
            <a:off x="7832045" y="1147001"/>
            <a:ext cx="1063018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0"/>
          <p:cNvSpPr txBox="1"/>
          <p:nvPr/>
        </p:nvSpPr>
        <p:spPr>
          <a:xfrm>
            <a:off x="7832045" y="1424749"/>
            <a:ext cx="1062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affichage de la réponse  sur l'interface Streamlit.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1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1"/>
          <p:cNvSpPr/>
          <p:nvPr/>
        </p:nvSpPr>
        <p:spPr>
          <a:xfrm>
            <a:off x="685818" y="2057400"/>
            <a:ext cx="3634837" cy="8229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1"/>
          <p:cNvSpPr/>
          <p:nvPr/>
        </p:nvSpPr>
        <p:spPr>
          <a:xfrm>
            <a:off x="685818" y="2057400"/>
            <a:ext cx="54865" cy="82296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836698" y="2149982"/>
            <a:ext cx="3360509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Informations utiles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836698" y="2427732"/>
            <a:ext cx="3360509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Titre • Ville • Lieu • Adresse • Date • Catégorie • Mots-clés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1"/>
          <p:cNvSpPr/>
          <p:nvPr/>
        </p:nvSpPr>
        <p:spPr>
          <a:xfrm>
            <a:off x="4732146" y="2057400"/>
            <a:ext cx="3634837" cy="8229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1"/>
          <p:cNvSpPr/>
          <p:nvPr/>
        </p:nvSpPr>
        <p:spPr>
          <a:xfrm>
            <a:off x="4732146" y="2057400"/>
            <a:ext cx="54865" cy="822960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1"/>
          <p:cNvSpPr txBox="1"/>
          <p:nvPr/>
        </p:nvSpPr>
        <p:spPr>
          <a:xfrm>
            <a:off x="4883026" y="2149982"/>
            <a:ext cx="3360509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Contenu textuel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1"/>
          <p:cNvSpPr txBox="1"/>
          <p:nvPr/>
        </p:nvSpPr>
        <p:spPr>
          <a:xfrm>
            <a:off x="4883026" y="2427732"/>
            <a:ext cx="3360509" cy="3600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Description • Description détaillée • Conditions • Accessibilité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1"/>
          <p:cNvSpPr/>
          <p:nvPr/>
        </p:nvSpPr>
        <p:spPr>
          <a:xfrm>
            <a:off x="377200" y="874395"/>
            <a:ext cx="1543091" cy="848677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1"/>
          <p:cNvSpPr txBox="1"/>
          <p:nvPr/>
        </p:nvSpPr>
        <p:spPr>
          <a:xfrm>
            <a:off x="377200" y="987552"/>
            <a:ext cx="1543091" cy="2983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67AB"/>
              </a:buClr>
              <a:buSzPts val="2000"/>
              <a:buFont typeface="Calibri"/>
              <a:buNone/>
            </a:pPr>
            <a:r>
              <a:rPr b="1" i="0" lang="fr" sz="2000" u="none" cap="none" strike="noStrike">
                <a:solidFill>
                  <a:srgbClr val="3067AB"/>
                </a:solidFill>
                <a:latin typeface="Calibri"/>
                <a:ea typeface="Calibri"/>
                <a:cs typeface="Calibri"/>
                <a:sym typeface="Calibri"/>
              </a:rPr>
              <a:t>3 880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1"/>
          <p:cNvSpPr txBox="1"/>
          <p:nvPr/>
        </p:nvSpPr>
        <p:spPr>
          <a:xfrm>
            <a:off x="432066" y="1373315"/>
            <a:ext cx="143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800"/>
              <a:buFont typeface="Calibri"/>
              <a:buNone/>
            </a:pPr>
            <a:r>
              <a:rPr b="1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événements du 93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1"/>
          <p:cNvSpPr/>
          <p:nvPr/>
        </p:nvSpPr>
        <p:spPr>
          <a:xfrm>
            <a:off x="2160328" y="874395"/>
            <a:ext cx="1543091" cy="848677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1"/>
          <p:cNvSpPr txBox="1"/>
          <p:nvPr/>
        </p:nvSpPr>
        <p:spPr>
          <a:xfrm>
            <a:off x="2160328" y="987552"/>
            <a:ext cx="1543091" cy="2983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460"/>
              </a:buClr>
              <a:buSzPts val="2000"/>
              <a:buFont typeface="Calibri"/>
              <a:buNone/>
            </a:pPr>
            <a:r>
              <a:rPr b="1" i="0" lang="fr" sz="2000" u="none" cap="none" strike="noStrike">
                <a:solidFill>
                  <a:srgbClr val="328460"/>
                </a:solidFill>
                <a:latin typeface="Calibri"/>
                <a:ea typeface="Calibri"/>
                <a:cs typeface="Calibri"/>
                <a:sym typeface="Calibri"/>
              </a:rPr>
              <a:t>4 933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1"/>
          <p:cNvSpPr txBox="1"/>
          <p:nvPr/>
        </p:nvSpPr>
        <p:spPr>
          <a:xfrm>
            <a:off x="2215193" y="1373315"/>
            <a:ext cx="143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800"/>
              <a:buFont typeface="Calibri"/>
              <a:buNone/>
            </a:pPr>
            <a:r>
              <a:rPr b="1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chunks générés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1"/>
          <p:cNvSpPr/>
          <p:nvPr/>
        </p:nvSpPr>
        <p:spPr>
          <a:xfrm>
            <a:off x="3943455" y="874395"/>
            <a:ext cx="1543091" cy="848677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1"/>
          <p:cNvSpPr txBox="1"/>
          <p:nvPr/>
        </p:nvSpPr>
        <p:spPr>
          <a:xfrm>
            <a:off x="3943455" y="987552"/>
            <a:ext cx="1543091" cy="2983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38431"/>
              </a:buClr>
              <a:buSzPts val="2000"/>
              <a:buFont typeface="Calibri"/>
              <a:buNone/>
            </a:pPr>
            <a:r>
              <a:rPr b="1" i="0" lang="fr" sz="2000" u="none" cap="none" strike="noStrike">
                <a:solidFill>
                  <a:srgbClr val="D38431"/>
                </a:solidFill>
                <a:latin typeface="Calibri"/>
                <a:ea typeface="Calibri"/>
                <a:cs typeface="Calibri"/>
                <a:sym typeface="Calibri"/>
              </a:rPr>
              <a:t>1200 / 100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1"/>
          <p:cNvSpPr txBox="1"/>
          <p:nvPr/>
        </p:nvSpPr>
        <p:spPr>
          <a:xfrm>
            <a:off x="3998321" y="1373315"/>
            <a:ext cx="143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800"/>
              <a:buFont typeface="Calibri"/>
              <a:buNone/>
            </a:pPr>
            <a:r>
              <a:rPr b="1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chunk size / overlap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1"/>
          <p:cNvSpPr/>
          <p:nvPr/>
        </p:nvSpPr>
        <p:spPr>
          <a:xfrm>
            <a:off x="5726575" y="874400"/>
            <a:ext cx="1670100" cy="8487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1"/>
          <p:cNvSpPr txBox="1"/>
          <p:nvPr/>
        </p:nvSpPr>
        <p:spPr>
          <a:xfrm>
            <a:off x="5726575" y="987550"/>
            <a:ext cx="1783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67AB"/>
              </a:buClr>
              <a:buSzPts val="2000"/>
              <a:buFont typeface="Calibri"/>
              <a:buNone/>
            </a:pPr>
            <a:r>
              <a:rPr b="1" i="0" lang="fr" sz="2000" u="none" cap="none" strike="noStrike">
                <a:solidFill>
                  <a:srgbClr val="3067AB"/>
                </a:solidFill>
                <a:latin typeface="Calibri"/>
                <a:ea typeface="Calibri"/>
                <a:cs typeface="Calibri"/>
                <a:sym typeface="Calibri"/>
              </a:rPr>
              <a:t>mistral-embed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1"/>
          <p:cNvSpPr txBox="1"/>
          <p:nvPr/>
        </p:nvSpPr>
        <p:spPr>
          <a:xfrm>
            <a:off x="5781448" y="1373315"/>
            <a:ext cx="143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800"/>
              <a:buFont typeface="Calibri"/>
              <a:buNone/>
            </a:pPr>
            <a:r>
              <a:rPr b="1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modèle d'embedding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1"/>
          <p:cNvSpPr/>
          <p:nvPr/>
        </p:nvSpPr>
        <p:spPr>
          <a:xfrm>
            <a:off x="7619400" y="874400"/>
            <a:ext cx="1433400" cy="8487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1"/>
          <p:cNvSpPr txBox="1"/>
          <p:nvPr/>
        </p:nvSpPr>
        <p:spPr>
          <a:xfrm>
            <a:off x="7509710" y="987552"/>
            <a:ext cx="1543091" cy="2983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28460"/>
              </a:buClr>
              <a:buSzPts val="2000"/>
              <a:buFont typeface="Calibri"/>
              <a:buNone/>
            </a:pPr>
            <a:r>
              <a:rPr b="1" i="0" lang="fr" sz="2000" u="none" cap="none" strike="noStrike">
                <a:solidFill>
                  <a:srgbClr val="328460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1"/>
          <p:cNvSpPr txBox="1"/>
          <p:nvPr/>
        </p:nvSpPr>
        <p:spPr>
          <a:xfrm>
            <a:off x="7564576" y="1373315"/>
            <a:ext cx="1433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800"/>
              <a:buFont typeface="Calibri"/>
              <a:buNone/>
            </a:pPr>
            <a:r>
              <a:rPr b="1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base vectorielle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1"/>
          <p:cNvSpPr txBox="1"/>
          <p:nvPr/>
        </p:nvSpPr>
        <p:spPr>
          <a:xfrm>
            <a:off x="548655" y="274320"/>
            <a:ext cx="802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Données et préparation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/>
        </p:nvSpPr>
        <p:spPr>
          <a:xfrm>
            <a:off x="548655" y="231457"/>
            <a:ext cx="802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Pourquoi découper les documents ?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2"/>
          <p:cNvSpPr txBox="1"/>
          <p:nvPr/>
        </p:nvSpPr>
        <p:spPr>
          <a:xfrm>
            <a:off x="548655" y="617220"/>
            <a:ext cx="8024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fr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 chunking facilite une recherche plus ciblée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2"/>
          <p:cNvSpPr/>
          <p:nvPr/>
        </p:nvSpPr>
        <p:spPr>
          <a:xfrm>
            <a:off x="548655" y="1080135"/>
            <a:ext cx="2057455" cy="16459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complet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fiche peut contenir beaucoup d’informations : description, dates, lieu, conditions…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2"/>
          <p:cNvSpPr/>
          <p:nvPr/>
        </p:nvSpPr>
        <p:spPr>
          <a:xfrm>
            <a:off x="2983309" y="1080135"/>
            <a:ext cx="2057455" cy="16459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f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chunking consiste à diviser le contenu en morceaux de taille maîtrisée, </a:t>
            </a:r>
            <a:r>
              <a:rPr b="0"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permettre une recherche sémantique plus précise.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2"/>
          <p:cNvSpPr/>
          <p:nvPr/>
        </p:nvSpPr>
        <p:spPr>
          <a:xfrm>
            <a:off x="5417964" y="1080135"/>
            <a:ext cx="2057455" cy="164592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fr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Contexte transmis</a:t>
            </a:r>
            <a:endParaRPr b="1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i="0" lang="fr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chunks les plus proches de la question sont ensuite transmis à Mistral Small.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3"/>
          <p:cNvSpPr/>
          <p:nvPr/>
        </p:nvSpPr>
        <p:spPr>
          <a:xfrm>
            <a:off x="0" y="0"/>
            <a:ext cx="9144015" cy="82296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3"/>
          <p:cNvSpPr txBox="1"/>
          <p:nvPr/>
        </p:nvSpPr>
        <p:spPr>
          <a:xfrm>
            <a:off x="445782" y="216027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Préparer les données pour le RAG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3"/>
          <p:cNvSpPr txBox="1"/>
          <p:nvPr/>
        </p:nvSpPr>
        <p:spPr>
          <a:xfrm>
            <a:off x="459498" y="524637"/>
            <a:ext cx="7955400" cy="190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fr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Nettoyage, chunking et vectorisation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3"/>
          <p:cNvSpPr/>
          <p:nvPr/>
        </p:nvSpPr>
        <p:spPr>
          <a:xfrm>
            <a:off x="548655" y="848678"/>
            <a:ext cx="2606109" cy="200596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548655" y="848678"/>
            <a:ext cx="54865" cy="2005965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699535" y="941260"/>
            <a:ext cx="2331782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Nettoyage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3"/>
          <p:cNvSpPr txBox="1"/>
          <p:nvPr/>
        </p:nvSpPr>
        <p:spPr>
          <a:xfrm>
            <a:off x="699535" y="1219010"/>
            <a:ext cx="2331782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BeautifulSoup supprime les balises HTML des champs textuels avant la vectorisation.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3291928" y="848678"/>
            <a:ext cx="2606109" cy="200596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3"/>
          <p:cNvSpPr/>
          <p:nvPr/>
        </p:nvSpPr>
        <p:spPr>
          <a:xfrm>
            <a:off x="3291928" y="848678"/>
            <a:ext cx="54865" cy="2005965"/>
          </a:xfrm>
          <a:prstGeom prst="rect">
            <a:avLst/>
          </a:prstGeom>
          <a:solidFill>
            <a:srgbClr val="D384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3"/>
          <p:cNvSpPr txBox="1"/>
          <p:nvPr/>
        </p:nvSpPr>
        <p:spPr>
          <a:xfrm>
            <a:off x="3442808" y="941260"/>
            <a:ext cx="2331782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Chunking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3"/>
          <p:cNvSpPr txBox="1"/>
          <p:nvPr/>
        </p:nvSpPr>
        <p:spPr>
          <a:xfrm>
            <a:off x="3442808" y="1219010"/>
            <a:ext cx="2331782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Comparaison : 800/50 et 1200/100.</a:t>
            </a:r>
            <a:b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1200/100 retenu pour le prototype comme compromis entre récupération et fidélité.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3"/>
          <p:cNvSpPr/>
          <p:nvPr/>
        </p:nvSpPr>
        <p:spPr>
          <a:xfrm>
            <a:off x="6035201" y="848678"/>
            <a:ext cx="2606109" cy="200596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3"/>
          <p:cNvSpPr/>
          <p:nvPr/>
        </p:nvSpPr>
        <p:spPr>
          <a:xfrm>
            <a:off x="6035201" y="848678"/>
            <a:ext cx="54865" cy="2005965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3"/>
          <p:cNvSpPr txBox="1"/>
          <p:nvPr/>
        </p:nvSpPr>
        <p:spPr>
          <a:xfrm>
            <a:off x="6186081" y="941260"/>
            <a:ext cx="2331782" cy="23145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3"/>
          <p:cNvSpPr txBox="1"/>
          <p:nvPr/>
        </p:nvSpPr>
        <p:spPr>
          <a:xfrm>
            <a:off x="6186081" y="1219010"/>
            <a:ext cx="2331782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Chaque chunk est transformé en vecteur avec mistral-embed puis stocké dans FAISS.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3"/>
          <p:cNvSpPr/>
          <p:nvPr/>
        </p:nvSpPr>
        <p:spPr>
          <a:xfrm>
            <a:off x="603525" y="2989998"/>
            <a:ext cx="7955400" cy="5751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</a:pPr>
            <a:r>
              <a:rPr b="1" i="0" lang="fr" sz="2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rgbClr val="0F172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Documents récupérés (TOP_K)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4"/>
          <p:cNvSpPr/>
          <p:nvPr/>
        </p:nvSpPr>
        <p:spPr>
          <a:xfrm>
            <a:off x="0" y="0"/>
            <a:ext cx="9144015" cy="109728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4"/>
          <p:cNvSpPr txBox="1"/>
          <p:nvPr/>
        </p:nvSpPr>
        <p:spPr>
          <a:xfrm>
            <a:off x="445782" y="288036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Recherche et génération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46" name="Google Shape;346;p44"/>
          <p:cNvSpPr txBox="1"/>
          <p:nvPr/>
        </p:nvSpPr>
        <p:spPr>
          <a:xfrm>
            <a:off x="459498" y="699516"/>
            <a:ext cx="7955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Ce qui se passe lorsque l'utilisateur pose une question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47" name="Google Shape;347;p44"/>
          <p:cNvSpPr/>
          <p:nvPr/>
        </p:nvSpPr>
        <p:spPr>
          <a:xfrm>
            <a:off x="582946" y="1165860"/>
            <a:ext cx="3772001" cy="260604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44"/>
          <p:cNvSpPr/>
          <p:nvPr/>
        </p:nvSpPr>
        <p:spPr>
          <a:xfrm>
            <a:off x="582946" y="1165860"/>
            <a:ext cx="54865" cy="260604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44"/>
          <p:cNvSpPr txBox="1"/>
          <p:nvPr/>
        </p:nvSpPr>
        <p:spPr>
          <a:xfrm>
            <a:off x="733826" y="1289304"/>
            <a:ext cx="349767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Recherche</a:t>
            </a:r>
            <a:endParaRPr sz="1100"/>
          </a:p>
        </p:txBody>
      </p:sp>
      <p:sp>
        <p:nvSpPr>
          <p:cNvPr id="350" name="Google Shape;350;p44"/>
          <p:cNvSpPr txBox="1"/>
          <p:nvPr/>
        </p:nvSpPr>
        <p:spPr>
          <a:xfrm>
            <a:off x="733826" y="1659636"/>
            <a:ext cx="34977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 représentée sous forme vectorielle</a:t>
            </a:r>
            <a:b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FAISS compare alors ce vecteur avec ceux des chunks présents dans l'index et récupère les 5 chunks les plus proches smantiquement.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4"/>
          <p:cNvSpPr/>
          <p:nvPr/>
        </p:nvSpPr>
        <p:spPr>
          <a:xfrm>
            <a:off x="4766437" y="1165860"/>
            <a:ext cx="3772001" cy="260604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4"/>
          <p:cNvSpPr/>
          <p:nvPr/>
        </p:nvSpPr>
        <p:spPr>
          <a:xfrm>
            <a:off x="4766437" y="1165860"/>
            <a:ext cx="54865" cy="2606040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4"/>
          <p:cNvSpPr txBox="1"/>
          <p:nvPr/>
        </p:nvSpPr>
        <p:spPr>
          <a:xfrm>
            <a:off x="4917317" y="1289304"/>
            <a:ext cx="349767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Génération</a:t>
            </a:r>
            <a:endParaRPr sz="1100"/>
          </a:p>
        </p:txBody>
      </p:sp>
      <p:sp>
        <p:nvSpPr>
          <p:cNvPr id="354" name="Google Shape;354;p44"/>
          <p:cNvSpPr txBox="1"/>
          <p:nvPr/>
        </p:nvSpPr>
        <p:spPr>
          <a:xfrm>
            <a:off x="4917317" y="1659636"/>
            <a:ext cx="3497700" cy="12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Ces résultats constituent le contexte envoyé à Mistral Small. 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Température : 0,2 afin de limiter la variabilité de la génération. 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Prompt spécialisé sur</a:t>
            </a: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 les événements du</a:t>
            </a: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 93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Consigne de ne pas inventer événement, date, lieu ou tarif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"/>
          <p:cNvSpPr/>
          <p:nvPr/>
        </p:nvSpPr>
        <p:spPr>
          <a:xfrm>
            <a:off x="0" y="0"/>
            <a:ext cx="9144000" cy="82350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45"/>
          <p:cNvSpPr txBox="1"/>
          <p:nvPr/>
        </p:nvSpPr>
        <p:spPr>
          <a:xfrm>
            <a:off x="445782" y="216027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Démonstration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5"/>
          <p:cNvSpPr/>
          <p:nvPr/>
        </p:nvSpPr>
        <p:spPr>
          <a:xfrm>
            <a:off x="548655" y="848678"/>
            <a:ext cx="2537400" cy="200587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5"/>
          <p:cNvSpPr/>
          <p:nvPr/>
        </p:nvSpPr>
        <p:spPr>
          <a:xfrm>
            <a:off x="548655" y="848678"/>
            <a:ext cx="54900" cy="2005875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5"/>
          <p:cNvSpPr txBox="1"/>
          <p:nvPr/>
        </p:nvSpPr>
        <p:spPr>
          <a:xfrm>
            <a:off x="699535" y="941260"/>
            <a:ext cx="2263200" cy="202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1.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699535" y="1219009"/>
            <a:ext cx="22632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Exemple :</a:t>
            </a:r>
            <a:br>
              <a:rPr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 Quels événements musicaux ont eu lieu à Bondy ? »</a:t>
            </a:r>
            <a:endParaRPr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5"/>
          <p:cNvSpPr/>
          <p:nvPr/>
        </p:nvSpPr>
        <p:spPr>
          <a:xfrm>
            <a:off x="3291928" y="848678"/>
            <a:ext cx="2537400" cy="200587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5"/>
          <p:cNvSpPr/>
          <p:nvPr/>
        </p:nvSpPr>
        <p:spPr>
          <a:xfrm>
            <a:off x="3291928" y="848678"/>
            <a:ext cx="54900" cy="2005875"/>
          </a:xfrm>
          <a:prstGeom prst="rect">
            <a:avLst/>
          </a:prstGeom>
          <a:solidFill>
            <a:srgbClr val="D384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45"/>
          <p:cNvSpPr txBox="1"/>
          <p:nvPr/>
        </p:nvSpPr>
        <p:spPr>
          <a:xfrm>
            <a:off x="3442808" y="941260"/>
            <a:ext cx="2263200" cy="202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2. Recherche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5"/>
          <p:cNvSpPr txBox="1"/>
          <p:nvPr/>
        </p:nvSpPr>
        <p:spPr>
          <a:xfrm>
            <a:off x="3442808" y="1219010"/>
            <a:ext cx="22632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FAISS récupère les chunks pertinents et les transmet au modèle.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5"/>
          <p:cNvSpPr/>
          <p:nvPr/>
        </p:nvSpPr>
        <p:spPr>
          <a:xfrm>
            <a:off x="6035201" y="848678"/>
            <a:ext cx="2537400" cy="2005875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5"/>
          <p:cNvSpPr/>
          <p:nvPr/>
        </p:nvSpPr>
        <p:spPr>
          <a:xfrm>
            <a:off x="6035201" y="848678"/>
            <a:ext cx="54900" cy="2005875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5"/>
          <p:cNvSpPr txBox="1"/>
          <p:nvPr/>
        </p:nvSpPr>
        <p:spPr>
          <a:xfrm>
            <a:off x="6186081" y="941260"/>
            <a:ext cx="2263200" cy="2020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2A4A"/>
              </a:buClr>
              <a:buSzPts val="1300"/>
              <a:buFont typeface="Calibri"/>
              <a:buNone/>
            </a:pPr>
            <a:r>
              <a:rPr b="1" i="0" lang="fr" sz="1300" u="none" cap="none" strike="noStrike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3. Réponse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5"/>
          <p:cNvSpPr txBox="1"/>
          <p:nvPr/>
        </p:nvSpPr>
        <p:spPr>
          <a:xfrm>
            <a:off x="6186081" y="1219009"/>
            <a:ext cx="22632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343C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Mistral formule une réponse à partir du contexte récupéré.</a:t>
            </a:r>
            <a:b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100" u="none" cap="none" strike="noStrike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Les sources peuvent être consultées.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6"/>
          <p:cNvSpPr txBox="1"/>
          <p:nvPr/>
        </p:nvSpPr>
        <p:spPr>
          <a:xfrm>
            <a:off x="548655" y="274320"/>
            <a:ext cx="802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Évaluation du système avec RAGAS</a:t>
            </a:r>
            <a:r>
              <a:rPr b="1" lang="fr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78" name="Google Shape;378;p46"/>
          <p:cNvSpPr/>
          <p:nvPr/>
        </p:nvSpPr>
        <p:spPr>
          <a:xfrm>
            <a:off x="92700" y="852950"/>
            <a:ext cx="4479300" cy="33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1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379" name="Google Shape;379;p46"/>
          <p:cNvSpPr/>
          <p:nvPr/>
        </p:nvSpPr>
        <p:spPr>
          <a:xfrm>
            <a:off x="4756600" y="852950"/>
            <a:ext cx="4256400" cy="337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critères de notation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Faithfulness</a:t>
            </a:r>
            <a:b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La réponse est-elle fidèle aux informations présentes dans le contexte récupéré 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Precision</a:t>
            </a:r>
            <a:b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Les documents/chunks récupérés sont-ils pertinents pour répondre à la question 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Recall</a:t>
            </a:r>
            <a:b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Le retriever retrouve-t-il les informations nécessaires pour répondre ?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874" y="2849800"/>
            <a:ext cx="4108925" cy="92392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381" name="Google Shape;381;p46"/>
          <p:cNvSpPr txBox="1"/>
          <p:nvPr/>
        </p:nvSpPr>
        <p:spPr>
          <a:xfrm>
            <a:off x="548650" y="1075700"/>
            <a:ext cx="30000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Jeu de test : 15 questions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questions représentatives du fonctionnement du chatbot 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🟢 5 questions simples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🟠 5 questions complexes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🔴 5 questions hors périmètre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7"/>
          <p:cNvSpPr txBox="1"/>
          <p:nvPr/>
        </p:nvSpPr>
        <p:spPr>
          <a:xfrm>
            <a:off x="548655" y="274320"/>
            <a:ext cx="8024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1" i="0" lang="fr" sz="2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Résultats de l’évaluation</a:t>
            </a:r>
            <a:r>
              <a:rPr b="1" i="0" lang="fr" sz="1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87" name="Google Shape;387;p47"/>
          <p:cNvSpPr/>
          <p:nvPr/>
        </p:nvSpPr>
        <p:spPr>
          <a:xfrm>
            <a:off x="548650" y="852950"/>
            <a:ext cx="7082400" cy="3299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7"/>
          <p:cNvSpPr txBox="1"/>
          <p:nvPr/>
        </p:nvSpPr>
        <p:spPr>
          <a:xfrm>
            <a:off x="678999" y="2958550"/>
            <a:ext cx="67644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Faithfulness de 0,575</a:t>
            </a: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fidélité globalement correcte des réponses au contexte récupéré.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Precision de 0,422</a:t>
            </a: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les documents récupérés sont pertinents, mais le retrieval peut encore être amélioré.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Recall, à 0,233</a:t>
            </a: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certaines informations nécessaires pour répondre ne sont pas toujours retrouvées.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47"/>
          <p:cNvPicPr preferRelativeResize="0"/>
          <p:nvPr/>
        </p:nvPicPr>
        <p:blipFill rotWithShape="1">
          <a:blip r:embed="rId3">
            <a:alphaModFix/>
          </a:blip>
          <a:srcRect b="53454" l="0" r="0" t="0"/>
          <a:stretch/>
        </p:blipFill>
        <p:spPr>
          <a:xfrm>
            <a:off x="685900" y="1187775"/>
            <a:ext cx="6764499" cy="14742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"/>
          <p:cNvSpPr/>
          <p:nvPr/>
        </p:nvSpPr>
        <p:spPr>
          <a:xfrm>
            <a:off x="0" y="0"/>
            <a:ext cx="9144015" cy="109728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8"/>
          <p:cNvSpPr txBox="1"/>
          <p:nvPr/>
        </p:nvSpPr>
        <p:spPr>
          <a:xfrm>
            <a:off x="445782" y="288036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10. Limites et perspectives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96" name="Google Shape;396;p48"/>
          <p:cNvSpPr txBox="1"/>
          <p:nvPr/>
        </p:nvSpPr>
        <p:spPr>
          <a:xfrm>
            <a:off x="459498" y="699516"/>
            <a:ext cx="7955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Les prochaines améliorations découlent directement de l'évaluation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397" name="Google Shape;397;p48"/>
          <p:cNvSpPr/>
          <p:nvPr/>
        </p:nvSpPr>
        <p:spPr>
          <a:xfrm>
            <a:off x="514364" y="1062990"/>
            <a:ext cx="3909164" cy="2983229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8"/>
          <p:cNvSpPr/>
          <p:nvPr/>
        </p:nvSpPr>
        <p:spPr>
          <a:xfrm>
            <a:off x="514364" y="1062990"/>
            <a:ext cx="54865" cy="2983229"/>
          </a:xfrm>
          <a:prstGeom prst="rect">
            <a:avLst/>
          </a:prstGeom>
          <a:solidFill>
            <a:srgbClr val="D384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8"/>
          <p:cNvSpPr txBox="1"/>
          <p:nvPr/>
        </p:nvSpPr>
        <p:spPr>
          <a:xfrm>
            <a:off x="665244" y="1186434"/>
            <a:ext cx="363483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Limites actuelles</a:t>
            </a:r>
            <a:endParaRPr sz="1100"/>
          </a:p>
        </p:txBody>
      </p:sp>
      <p:sp>
        <p:nvSpPr>
          <p:cNvPr id="400" name="Google Shape;400;p48"/>
          <p:cNvSpPr txBox="1"/>
          <p:nvPr/>
        </p:nvSpPr>
        <p:spPr>
          <a:xfrm>
            <a:off x="665244" y="1556766"/>
            <a:ext cx="36348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La première limite est donc le retrieval, notamment le Context Recall qui reste faible 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Recherche principalement vectorielle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Variabilité des scores RAGAS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/>
          </a:p>
        </p:txBody>
      </p:sp>
      <p:sp>
        <p:nvSpPr>
          <p:cNvPr id="401" name="Google Shape;401;p48"/>
          <p:cNvSpPr/>
          <p:nvPr/>
        </p:nvSpPr>
        <p:spPr>
          <a:xfrm>
            <a:off x="4697855" y="1062990"/>
            <a:ext cx="3909164" cy="2983229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8"/>
          <p:cNvSpPr/>
          <p:nvPr/>
        </p:nvSpPr>
        <p:spPr>
          <a:xfrm>
            <a:off x="4697855" y="1062990"/>
            <a:ext cx="54865" cy="2983229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8"/>
          <p:cNvSpPr txBox="1"/>
          <p:nvPr/>
        </p:nvSpPr>
        <p:spPr>
          <a:xfrm>
            <a:off x="4848735" y="1186434"/>
            <a:ext cx="363483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Perspectives</a:t>
            </a:r>
            <a:endParaRPr sz="1100"/>
          </a:p>
        </p:txBody>
      </p:sp>
      <p:sp>
        <p:nvSpPr>
          <p:cNvPr id="404" name="Google Shape;404;p48"/>
          <p:cNvSpPr txBox="1"/>
          <p:nvPr/>
        </p:nvSpPr>
        <p:spPr>
          <a:xfrm>
            <a:off x="4848735" y="1556766"/>
            <a:ext cx="36348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Tester TOP_K = 4, 8, 10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Filtrer par métadonnées : ville, date, catégorie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Recherche hybride : FAISS + BM25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Ajouter un re-ranking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Enrichir le jeu de test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9"/>
          <p:cNvSpPr/>
          <p:nvPr/>
        </p:nvSpPr>
        <p:spPr>
          <a:xfrm>
            <a:off x="0" y="0"/>
            <a:ext cx="9144015" cy="109728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9"/>
          <p:cNvSpPr txBox="1"/>
          <p:nvPr/>
        </p:nvSpPr>
        <p:spPr>
          <a:xfrm>
            <a:off x="445782" y="288036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11. Conclusion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11" name="Google Shape;411;p49"/>
          <p:cNvSpPr txBox="1"/>
          <p:nvPr/>
        </p:nvSpPr>
        <p:spPr>
          <a:xfrm>
            <a:off x="8401274" y="329184"/>
            <a:ext cx="342909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900">
                <a:solidFill>
                  <a:srgbClr val="6973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100"/>
          </a:p>
        </p:txBody>
      </p:sp>
      <p:sp>
        <p:nvSpPr>
          <p:cNvPr id="412" name="Google Shape;412;p49"/>
          <p:cNvSpPr/>
          <p:nvPr/>
        </p:nvSpPr>
        <p:spPr>
          <a:xfrm>
            <a:off x="582946" y="1131570"/>
            <a:ext cx="2537528" cy="25374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9"/>
          <p:cNvSpPr/>
          <p:nvPr/>
        </p:nvSpPr>
        <p:spPr>
          <a:xfrm>
            <a:off x="582946" y="1131570"/>
            <a:ext cx="54865" cy="253746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9"/>
          <p:cNvSpPr txBox="1"/>
          <p:nvPr/>
        </p:nvSpPr>
        <p:spPr>
          <a:xfrm>
            <a:off x="733826" y="1255013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Ce qui fonctionne</a:t>
            </a:r>
            <a:endParaRPr sz="1100"/>
          </a:p>
        </p:txBody>
      </p:sp>
      <p:sp>
        <p:nvSpPr>
          <p:cNvPr id="415" name="Google Shape;415;p49"/>
          <p:cNvSpPr txBox="1"/>
          <p:nvPr/>
        </p:nvSpPr>
        <p:spPr>
          <a:xfrm>
            <a:off x="733826" y="1625346"/>
            <a:ext cx="226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Collecte OpenAgenda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Nettoyage et structuration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Embeddings + FAISS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Recherche sémantique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Génération Mistral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Interface Streamlit</a:t>
            </a:r>
            <a:endParaRPr sz="1100"/>
          </a:p>
        </p:txBody>
      </p:sp>
      <p:sp>
        <p:nvSpPr>
          <p:cNvPr id="416" name="Google Shape;416;p49"/>
          <p:cNvSpPr/>
          <p:nvPr/>
        </p:nvSpPr>
        <p:spPr>
          <a:xfrm>
            <a:off x="3291928" y="1131570"/>
            <a:ext cx="2537528" cy="25374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9"/>
          <p:cNvSpPr/>
          <p:nvPr/>
        </p:nvSpPr>
        <p:spPr>
          <a:xfrm>
            <a:off x="3291928" y="1131570"/>
            <a:ext cx="54865" cy="2537460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9"/>
          <p:cNvSpPr txBox="1"/>
          <p:nvPr/>
        </p:nvSpPr>
        <p:spPr>
          <a:xfrm>
            <a:off x="3442808" y="1255013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Ce que le projet démontre</a:t>
            </a:r>
            <a:endParaRPr sz="1100"/>
          </a:p>
        </p:txBody>
      </p:sp>
      <p:sp>
        <p:nvSpPr>
          <p:cNvPr id="419" name="Google Shape;419;p49"/>
          <p:cNvSpPr txBox="1"/>
          <p:nvPr/>
        </p:nvSpPr>
        <p:spPr>
          <a:xfrm>
            <a:off x="3442808" y="1625346"/>
            <a:ext cx="226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Un pipeline RAG de bout en bout capable de répondre à des questions naturelles sur les événements du 93 à partir des données récupérées.</a:t>
            </a:r>
            <a:endParaRPr sz="1100"/>
          </a:p>
        </p:txBody>
      </p:sp>
      <p:sp>
        <p:nvSpPr>
          <p:cNvPr id="420" name="Google Shape;420;p49"/>
          <p:cNvSpPr/>
          <p:nvPr/>
        </p:nvSpPr>
        <p:spPr>
          <a:xfrm>
            <a:off x="6000910" y="1131570"/>
            <a:ext cx="2537528" cy="25374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9"/>
          <p:cNvSpPr/>
          <p:nvPr/>
        </p:nvSpPr>
        <p:spPr>
          <a:xfrm>
            <a:off x="6000910" y="1131570"/>
            <a:ext cx="54865" cy="2537460"/>
          </a:xfrm>
          <a:prstGeom prst="rect">
            <a:avLst/>
          </a:prstGeom>
          <a:solidFill>
            <a:srgbClr val="D384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9"/>
          <p:cNvSpPr txBox="1"/>
          <p:nvPr/>
        </p:nvSpPr>
        <p:spPr>
          <a:xfrm>
            <a:off x="6151790" y="1255013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Suite du projet</a:t>
            </a:r>
            <a:endParaRPr sz="1100"/>
          </a:p>
        </p:txBody>
      </p:sp>
      <p:sp>
        <p:nvSpPr>
          <p:cNvPr id="423" name="Google Shape;423;p49"/>
          <p:cNvSpPr txBox="1"/>
          <p:nvPr/>
        </p:nvSpPr>
        <p:spPr>
          <a:xfrm>
            <a:off x="6151790" y="1625346"/>
            <a:ext cx="226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Améliorer le retrieval avec TOP_K, métadonnées, recherche hybride et reranking.</a:t>
            </a:r>
            <a:endParaRPr sz="1100"/>
          </a:p>
        </p:txBody>
      </p:sp>
      <p:sp>
        <p:nvSpPr>
          <p:cNvPr id="424" name="Google Shape;424;p49"/>
          <p:cNvSpPr txBox="1"/>
          <p:nvPr/>
        </p:nvSpPr>
        <p:spPr>
          <a:xfrm>
            <a:off x="685818" y="4046220"/>
            <a:ext cx="7681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0"/>
          <p:cNvSpPr/>
          <p:nvPr/>
        </p:nvSpPr>
        <p:spPr>
          <a:xfrm>
            <a:off x="0" y="0"/>
            <a:ext cx="9144015" cy="109728"/>
          </a:xfrm>
          <a:prstGeom prst="rect">
            <a:avLst/>
          </a:prstGeom>
          <a:solidFill>
            <a:srgbClr val="182A4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50"/>
          <p:cNvSpPr txBox="1"/>
          <p:nvPr/>
        </p:nvSpPr>
        <p:spPr>
          <a:xfrm>
            <a:off x="445782" y="288036"/>
            <a:ext cx="7887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11. Conclusion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31" name="Google Shape;431;p50"/>
          <p:cNvSpPr txBox="1"/>
          <p:nvPr/>
        </p:nvSpPr>
        <p:spPr>
          <a:xfrm>
            <a:off x="459498" y="699516"/>
            <a:ext cx="7955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prototype RAG fonctionnel, avec des axes d'amélioration identifiés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432" name="Google Shape;432;p50"/>
          <p:cNvSpPr/>
          <p:nvPr/>
        </p:nvSpPr>
        <p:spPr>
          <a:xfrm>
            <a:off x="582946" y="1131570"/>
            <a:ext cx="2537528" cy="25374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50"/>
          <p:cNvSpPr/>
          <p:nvPr/>
        </p:nvSpPr>
        <p:spPr>
          <a:xfrm>
            <a:off x="582946" y="1131570"/>
            <a:ext cx="54865" cy="2537460"/>
          </a:xfrm>
          <a:prstGeom prst="rect">
            <a:avLst/>
          </a:prstGeom>
          <a:solidFill>
            <a:srgbClr val="3067A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0"/>
          <p:cNvSpPr txBox="1"/>
          <p:nvPr/>
        </p:nvSpPr>
        <p:spPr>
          <a:xfrm>
            <a:off x="733826" y="1255013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Ce qui fonctionne</a:t>
            </a:r>
            <a:endParaRPr sz="1100"/>
          </a:p>
        </p:txBody>
      </p:sp>
      <p:sp>
        <p:nvSpPr>
          <p:cNvPr id="435" name="Google Shape;435;p50"/>
          <p:cNvSpPr txBox="1"/>
          <p:nvPr/>
        </p:nvSpPr>
        <p:spPr>
          <a:xfrm>
            <a:off x="733826" y="1625346"/>
            <a:ext cx="226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Collecte OpenAgenda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Nettoyage et structuration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Embeddings + FAISS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Recherche sémantique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Génération Mistral</a:t>
            </a:r>
            <a:b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• Interface Streamlit</a:t>
            </a:r>
            <a:endParaRPr sz="1100"/>
          </a:p>
        </p:txBody>
      </p:sp>
      <p:sp>
        <p:nvSpPr>
          <p:cNvPr id="436" name="Google Shape;436;p50"/>
          <p:cNvSpPr/>
          <p:nvPr/>
        </p:nvSpPr>
        <p:spPr>
          <a:xfrm>
            <a:off x="3291928" y="1131570"/>
            <a:ext cx="2537528" cy="25374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0"/>
          <p:cNvSpPr/>
          <p:nvPr/>
        </p:nvSpPr>
        <p:spPr>
          <a:xfrm>
            <a:off x="3291928" y="1131570"/>
            <a:ext cx="54865" cy="2537460"/>
          </a:xfrm>
          <a:prstGeom prst="rect">
            <a:avLst/>
          </a:prstGeom>
          <a:solidFill>
            <a:srgbClr val="32846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0"/>
          <p:cNvSpPr txBox="1"/>
          <p:nvPr/>
        </p:nvSpPr>
        <p:spPr>
          <a:xfrm>
            <a:off x="3442808" y="1255013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Ce que le projet démontre</a:t>
            </a:r>
            <a:endParaRPr sz="1100"/>
          </a:p>
        </p:txBody>
      </p:sp>
      <p:sp>
        <p:nvSpPr>
          <p:cNvPr id="439" name="Google Shape;439;p50"/>
          <p:cNvSpPr txBox="1"/>
          <p:nvPr/>
        </p:nvSpPr>
        <p:spPr>
          <a:xfrm>
            <a:off x="3442808" y="1625346"/>
            <a:ext cx="226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Un pipeline RAG de bout en bout capable de répondre à des questions naturelles sur les événements du 93 à partir des données récupérées.</a:t>
            </a:r>
            <a:endParaRPr sz="1100"/>
          </a:p>
        </p:txBody>
      </p:sp>
      <p:sp>
        <p:nvSpPr>
          <p:cNvPr id="440" name="Google Shape;440;p50"/>
          <p:cNvSpPr/>
          <p:nvPr/>
        </p:nvSpPr>
        <p:spPr>
          <a:xfrm>
            <a:off x="6000910" y="1131570"/>
            <a:ext cx="2537528" cy="25374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E0E7E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50"/>
          <p:cNvSpPr/>
          <p:nvPr/>
        </p:nvSpPr>
        <p:spPr>
          <a:xfrm>
            <a:off x="6000910" y="1131570"/>
            <a:ext cx="54865" cy="2537460"/>
          </a:xfrm>
          <a:prstGeom prst="rect">
            <a:avLst/>
          </a:prstGeom>
          <a:solidFill>
            <a:srgbClr val="D3843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0"/>
          <p:cNvSpPr txBox="1"/>
          <p:nvPr/>
        </p:nvSpPr>
        <p:spPr>
          <a:xfrm>
            <a:off x="6151790" y="1255013"/>
            <a:ext cx="2263200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rgbClr val="182A4A"/>
                </a:solidFill>
                <a:latin typeface="Calibri"/>
                <a:ea typeface="Calibri"/>
                <a:cs typeface="Calibri"/>
                <a:sym typeface="Calibri"/>
              </a:rPr>
              <a:t>Suite du projet</a:t>
            </a:r>
            <a:endParaRPr sz="1100"/>
          </a:p>
        </p:txBody>
      </p:sp>
      <p:sp>
        <p:nvSpPr>
          <p:cNvPr id="443" name="Google Shape;443;p50"/>
          <p:cNvSpPr txBox="1"/>
          <p:nvPr/>
        </p:nvSpPr>
        <p:spPr>
          <a:xfrm>
            <a:off x="6151790" y="1625346"/>
            <a:ext cx="2263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rgbClr val="2D343C"/>
                </a:solidFill>
                <a:latin typeface="Calibri"/>
                <a:ea typeface="Calibri"/>
                <a:cs typeface="Calibri"/>
                <a:sym typeface="Calibri"/>
              </a:rPr>
              <a:t>Améliorer le retrieval avec TOP_K, métadonnées, recherche hybride et reranking.</a:t>
            </a:r>
            <a:endParaRPr sz="1100"/>
          </a:p>
        </p:txBody>
      </p:sp>
      <p:sp>
        <p:nvSpPr>
          <p:cNvPr id="444" name="Google Shape;444;p50"/>
          <p:cNvSpPr txBox="1"/>
          <p:nvPr/>
        </p:nvSpPr>
        <p:spPr>
          <a:xfrm>
            <a:off x="685818" y="4046220"/>
            <a:ext cx="7681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Merci pour votre attention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